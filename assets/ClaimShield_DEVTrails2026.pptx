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46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57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9144"/>
          </a:xfrm>
          <a:prstGeom prst="rect">
            <a:avLst/>
          </a:prstGeom>
          <a:solidFill>
            <a:srgbClr val="00E5FF">
              <a:alpha val="6000"/>
            </a:srgbClr>
          </a:solidFill>
          <a:ln w="12700">
            <a:solidFill>
              <a:srgbClr val="00E5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1097280"/>
            <a:ext cx="54864" cy="25603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DEVTRAILS 2026  //  PHASE 1 SUBMISSION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Claim</a:t>
            </a:r>
            <a:r>
              <a:rPr lang="en-US" sz="7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Shield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trust GPS. We never did.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Broader InsurTech Platform  ·  Anti-Spoofing Infrastructure  ·  Multi-Signal Fraud Detection</a:t>
            </a:r>
            <a:endParaRPr lang="en-US" sz="9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2B2CF8D-6071-4DD0-B935-03EC721D646F}"/>
              </a:ext>
            </a:extLst>
          </p:cNvPr>
          <p:cNvSpPr/>
          <p:nvPr/>
        </p:nvSpPr>
        <p:spPr>
          <a:xfrm>
            <a:off x="685800" y="35981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Ctrl+Alt+Delete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THREAT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 Vector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560320" cy="1828800"/>
          </a:xfrm>
          <a:prstGeom prst="rect">
            <a:avLst/>
          </a:prstGeom>
          <a:solidFill>
            <a:srgbClr val="0D1420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828800"/>
          </a:xfrm>
          <a:prstGeom prst="rect">
            <a:avLst/>
          </a:prstGeom>
          <a:solidFill>
            <a:srgbClr val="0D1420"/>
          </a:solidFill>
          <a:ln w="12700">
            <a:solidFill>
              <a:srgbClr val="FFB30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spoofing via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groups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1828800"/>
          </a:xfrm>
          <a:prstGeom prst="rect">
            <a:avLst/>
          </a:prstGeom>
          <a:solidFill>
            <a:srgbClr val="0D1420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DC 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126480" y="2423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pool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drained instantly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685800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547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GPS verification is officially obsolete.  Our platform was the next target.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OUR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Contextual Legitimacy Score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377440" cy="265176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GREEN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1371600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08960" y="1371600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Sensor Fusion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Accelerometer, barometric, thermal — physics can't be faked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2267712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08960" y="2267712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46120" y="2340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Tower Triangulation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2633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GPS corroboration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3163824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108960" y="3163824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46120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Continuity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mobility graph + route trajectory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1371600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72200" y="1371600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0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Order Verification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delivery in-transit before alert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2267712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72200" y="2267712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09360" y="2340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 Cross-Check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26334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Red-alert confirmed at claimed coordinates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3163824"/>
            <a:ext cx="2834640" cy="74980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72200" y="3163824"/>
            <a:ext cx="45720" cy="7498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309360" y="32369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Monitor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529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clustering anomaly in this zone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POPULATION-LEVEL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the Individual Claim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fraud checks are necessary but insufficient. Syndicates are caught at the network level.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" cy="77724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claims from identical GPS pin within 10 min — statistically impossible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45720" cy="777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Patterning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spike post-alert with no natural ramp-up = Telegram coordination signal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45720" cy="77724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Fingerprinting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devices sharing same home Wi-Fi while claiming distant storm zone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783080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800600" y="1783080"/>
            <a:ext cx="45720" cy="7772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1856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Graph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sharing anomalies auto-surfaced as syndicate cluster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715768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800600" y="2715768"/>
            <a:ext cx="45720" cy="77724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83480" y="2788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Baseline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appearance in a red-alert zone timed exactly with the alert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648456"/>
            <a:ext cx="4114800" cy="77724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00600" y="3648456"/>
            <a:ext cx="45720" cy="7772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83480" y="37216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velocity monitor — auto-freeze triggers before pool is drained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UX BALANCE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Three-Tier Response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Burden of proof scales with anomaly score — honest workers face zero friction.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7889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67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51760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GREEN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Auto-Approved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2286000" cy="9144"/>
          </a:xfrm>
          <a:prstGeom prst="rect">
            <a:avLst/>
          </a:prstGeom>
          <a:solidFill>
            <a:srgbClr val="1E2F45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signals corroborated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delivery confirmed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payout &lt; 60 seconds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0142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for honest workers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651760" cy="2788920"/>
          </a:xfrm>
          <a:prstGeom prst="rect">
            <a:avLst/>
          </a:prstGeom>
          <a:solidFill>
            <a:srgbClr val="0D1420"/>
          </a:solidFill>
          <a:ln w="12700">
            <a:solidFill>
              <a:srgbClr val="FFB30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1737360"/>
            <a:ext cx="265176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3756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AMBER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 Verification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37560" y="2606040"/>
            <a:ext cx="2286000" cy="9144"/>
          </a:xfrm>
          <a:prstGeom prst="rect">
            <a:avLst/>
          </a:prstGeom>
          <a:solidFill>
            <a:srgbClr val="1E2F45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3756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detected, not confirmed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held — NOT denied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10-sec video or selfie prompt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0142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in minutes for genuine workers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737360"/>
            <a:ext cx="2651760" cy="2788920"/>
          </a:xfrm>
          <a:prstGeom prst="rect">
            <a:avLst/>
          </a:prstGeom>
          <a:solidFill>
            <a:srgbClr val="0D1420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35040" y="1737360"/>
            <a:ext cx="2651760" cy="73152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7220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1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RED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Frozen + Human Review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72200" y="2606040"/>
            <a:ext cx="2286000" cy="9144"/>
          </a:xfrm>
          <a:prstGeom prst="rect">
            <a:avLst/>
          </a:prstGeom>
          <a:solidFill>
            <a:srgbClr val="1E2F45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7220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cluster confirmed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syndicate quarantined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5753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notified transparently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401421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appeal pathway open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 Claim Flows Through ClaimShield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66F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Filed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submits from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36192" y="1965960"/>
            <a:ext cx="182880" cy="365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719072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19072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19072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9072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event at coords?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80944" y="1965960"/>
            <a:ext cx="182880" cy="365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163824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63824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63824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63824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6-signal fusion 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25696" y="1965960"/>
            <a:ext cx="182880" cy="365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08576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FFB300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08576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08576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Monitor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08576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&amp; ring detection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70448" y="1965960"/>
            <a:ext cx="182880" cy="365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53328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67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53328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53328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3328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/ Amber / 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965960"/>
            <a:ext cx="182880" cy="36576"/>
          </a:xfrm>
          <a:prstGeom prst="rect">
            <a:avLst/>
          </a:prstGeom>
          <a:solidFill>
            <a:srgbClr val="5A7A9A"/>
          </a:solidFill>
          <a:ln w="1270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98080" y="1280160"/>
            <a:ext cx="1261872" cy="1417320"/>
          </a:xfrm>
          <a:prstGeom prst="rect">
            <a:avLst/>
          </a:prstGeom>
          <a:solidFill>
            <a:srgbClr val="0D1420"/>
          </a:solidFill>
          <a:ln w="12700">
            <a:solidFill>
              <a:srgbClr val="00E676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498080" y="138988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182880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221284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· Verify · Freeze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971800"/>
            <a:ext cx="4069080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2971800"/>
            <a:ext cx="45720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0352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Point of Failure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is one input among many. Defeating one signal doesn't defeat the system.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971800"/>
            <a:ext cx="4069080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54880" y="2971800"/>
            <a:ext cx="45720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19472" y="3026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Friction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19472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workers face zero friction. Burden scales with anomaly score.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4069080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65760" y="3749040"/>
            <a:ext cx="45720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30352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velocity monitor auto-freezes before the pool drains.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3749040"/>
            <a:ext cx="4069080" cy="658368"/>
          </a:xfrm>
          <a:prstGeom prst="rect">
            <a:avLst/>
          </a:prstGeom>
          <a:solidFill>
            <a:srgbClr val="111C2E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54880" y="3749040"/>
            <a:ext cx="45720" cy="65836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19472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as Policy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19472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worker is denied without a reason, timeline, and appeal path.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28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TECH STACK &amp;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47472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0" y="768096"/>
            <a:ext cx="2377440" cy="310896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514600" y="78547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14600" y="94121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· GPS + sensors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3657600" y="1078992"/>
            <a:ext cx="914" cy="128016"/>
          </a:xfrm>
          <a:prstGeom prst="line">
            <a:avLst/>
          </a:prstGeom>
          <a:noFill/>
          <a:ln w="1016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67049" y="108226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920240" y="1207008"/>
            <a:ext cx="3474720" cy="310896"/>
          </a:xfrm>
          <a:prstGeom prst="rect">
            <a:avLst/>
          </a:prstGeom>
          <a:solidFill>
            <a:srgbClr val="0D2E2A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65960" y="122438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65960" y="138315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Express · auth · rate limit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657600" y="1517904"/>
            <a:ext cx="914" cy="128016"/>
          </a:xfrm>
          <a:prstGeom prst="line">
            <a:avLst/>
          </a:prstGeom>
          <a:noFill/>
          <a:ln w="1016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20240" y="1645920"/>
            <a:ext cx="3474720" cy="310896"/>
          </a:xfrm>
          <a:prstGeom prst="rect">
            <a:avLst/>
          </a:prstGeom>
          <a:solidFill>
            <a:srgbClr val="0D2E2A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65960" y="166329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intake service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81298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validate · queue push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657600" y="1956816"/>
            <a:ext cx="914" cy="128016"/>
          </a:xfrm>
          <a:prstGeom prst="line">
            <a:avLst/>
          </a:prstGeom>
          <a:noFill/>
          <a:ln w="1016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70072" y="196311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468880" y="2084832"/>
            <a:ext cx="2377440" cy="2743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14600" y="20894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2220933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· burst handling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657600" y="2359152"/>
            <a:ext cx="914" cy="128016"/>
          </a:xfrm>
          <a:prstGeom prst="line">
            <a:avLst/>
          </a:prstGeom>
          <a:noFill/>
          <a:ln w="1016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6858000" cy="786384"/>
          </a:xfrm>
          <a:prstGeom prst="rect">
            <a:avLst/>
          </a:prstGeom>
          <a:solidFill>
            <a:srgbClr val="060F1A"/>
          </a:solidFill>
          <a:ln w="6350">
            <a:solidFill>
              <a:srgbClr val="534A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25146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CLS engine  (Python · FastAPI · XGBoost)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268833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2666313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93192" y="278628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 · baro · cell</a:t>
            </a:r>
            <a:endParaRPr lang="en-US" sz="500" dirty="0"/>
          </a:p>
        </p:txBody>
      </p:sp>
      <p:sp>
        <p:nvSpPr>
          <p:cNvPr id="28" name="Shape 26"/>
          <p:cNvSpPr/>
          <p:nvPr/>
        </p:nvSpPr>
        <p:spPr>
          <a:xfrm>
            <a:off x="2615184" y="268833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660904" y="2659251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60904" y="278275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 graph</a:t>
            </a:r>
            <a:endParaRPr lang="en-US" sz="500" dirty="0"/>
          </a:p>
        </p:txBody>
      </p:sp>
      <p:sp>
        <p:nvSpPr>
          <p:cNvPr id="31" name="Shape 29"/>
          <p:cNvSpPr/>
          <p:nvPr/>
        </p:nvSpPr>
        <p:spPr>
          <a:xfrm>
            <a:off x="4882896" y="268833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28616" y="266278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28616" y="278274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OpenWeatherMap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347472" y="296265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93192" y="29441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check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192" y="3060597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In-transit flag</a:t>
            </a:r>
            <a:endParaRPr lang="en-US" sz="500" dirty="0"/>
          </a:p>
        </p:txBody>
      </p:sp>
      <p:sp>
        <p:nvSpPr>
          <p:cNvPr id="37" name="Shape 35"/>
          <p:cNvSpPr/>
          <p:nvPr/>
        </p:nvSpPr>
        <p:spPr>
          <a:xfrm>
            <a:off x="2615184" y="296265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660904" y="294416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60904" y="306766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· cluster</a:t>
            </a:r>
            <a:endParaRPr lang="en-US" sz="500" dirty="0"/>
          </a:p>
        </p:txBody>
      </p:sp>
      <p:sp>
        <p:nvSpPr>
          <p:cNvPr id="40" name="Shape 38"/>
          <p:cNvSpPr/>
          <p:nvPr/>
        </p:nvSpPr>
        <p:spPr>
          <a:xfrm>
            <a:off x="4882896" y="2962656"/>
            <a:ext cx="2157984" cy="228600"/>
          </a:xfrm>
          <a:prstGeom prst="rect">
            <a:avLst/>
          </a:prstGeom>
          <a:solidFill>
            <a:srgbClr val="1A1030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28616" y="2940633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scorer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28616" y="3060600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0–100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3657600" y="3273552"/>
            <a:ext cx="914" cy="128016"/>
          </a:xfrm>
          <a:prstGeom prst="line">
            <a:avLst/>
          </a:prstGeom>
          <a:noFill/>
          <a:ln w="10160">
            <a:solidFill>
              <a:srgbClr val="5A7A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1920240" y="3401568"/>
            <a:ext cx="3474720" cy="310896"/>
          </a:xfrm>
          <a:prstGeom prst="rect">
            <a:avLst/>
          </a:prstGeom>
          <a:solidFill>
            <a:srgbClr val="0D2E2A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965960" y="341894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965960" y="357408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3-tier logic · circuit breaker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 flipH="1">
            <a:off x="1371600" y="3712464"/>
            <a:ext cx="1097280" cy="128016"/>
          </a:xfrm>
          <a:prstGeom prst="line">
            <a:avLst/>
          </a:prstGeom>
          <a:noFill/>
          <a:ln w="1016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74320" y="3840480"/>
            <a:ext cx="2011680" cy="310896"/>
          </a:xfrm>
          <a:prstGeom prst="rect">
            <a:avLst/>
          </a:prstGeom>
          <a:solidFill>
            <a:srgbClr val="052A15"/>
          </a:solidFill>
          <a:ln w="635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0040" y="385785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— auto-approve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401300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· payout &lt; 60s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657600" y="3712464"/>
            <a:ext cx="914" cy="128016"/>
          </a:xfrm>
          <a:prstGeom prst="line">
            <a:avLst/>
          </a:prstGeom>
          <a:noFill/>
          <a:ln w="1016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2651760" y="3840480"/>
            <a:ext cx="2011680" cy="310896"/>
          </a:xfrm>
          <a:prstGeom prst="rect">
            <a:avLst/>
          </a:prstGeom>
          <a:solidFill>
            <a:srgbClr val="2A1E00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697480" y="385785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— verify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97480" y="402527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 · 30-min window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4846320" y="3712464"/>
            <a:ext cx="1097280" cy="128016"/>
          </a:xfrm>
          <a:prstGeom prst="line">
            <a:avLst/>
          </a:prstGeom>
          <a:noFill/>
          <a:ln w="1016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120640" y="3840480"/>
            <a:ext cx="2011680" cy="310896"/>
          </a:xfrm>
          <a:prstGeom prst="rect">
            <a:avLst/>
          </a:prstGeom>
          <a:solidFill>
            <a:srgbClr val="2A0505"/>
          </a:solidFill>
          <a:ln w="63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166360" y="385785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— freeze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66360" y="4028341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· appeal path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360920" y="749808"/>
            <a:ext cx="1600200" cy="3456432"/>
          </a:xfrm>
          <a:prstGeom prst="rect">
            <a:avLst/>
          </a:prstGeom>
          <a:solidFill>
            <a:srgbClr val="0D1420"/>
          </a:solidFill>
          <a:ln w="6350">
            <a:solidFill>
              <a:srgbClr val="1E2F4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424928" y="795528"/>
            <a:ext cx="1463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layer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24928" y="978408"/>
            <a:ext cx="1463040" cy="5029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470648" y="106299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70648" y="126415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· workers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24928" y="1618488"/>
            <a:ext cx="1463040" cy="5029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470648" y="170307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470648" y="190423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cache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424928" y="2258568"/>
            <a:ext cx="1463040" cy="5029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470648" y="234315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70648" y="254431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424928" y="2898648"/>
            <a:ext cx="1463040" cy="5029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470648" y="298323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470648" y="318439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media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424928" y="3538728"/>
            <a:ext cx="1463040" cy="502920"/>
          </a:xfrm>
          <a:prstGeom prst="rect">
            <a:avLst/>
          </a:prstGeom>
          <a:solidFill>
            <a:srgbClr val="111C2E"/>
          </a:solidFill>
          <a:ln w="635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470648" y="362331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API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7470648" y="382447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394960" y="2002536"/>
            <a:ext cx="1965960" cy="0"/>
          </a:xfrm>
          <a:prstGeom prst="line">
            <a:avLst/>
          </a:prstGeom>
          <a:noFill/>
          <a:ln w="6350">
            <a:solidFill>
              <a:srgbClr val="1E2F4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D1420"/>
          </a:solidFill>
          <a:ln w="12700">
            <a:solidFill>
              <a:srgbClr val="1E2F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ClaimShield  ·  DEVTrails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6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A10"/>
          </a:solidFill>
          <a:ln w="12700">
            <a:solidFill>
              <a:srgbClr val="060A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64008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5A7A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syndicates
are smart.
</a:t>
            </a:r>
            <a:r>
              <a:rPr lang="en-US" sz="4400" b="1" dirty="0">
                <a:solidFill>
                  <a:srgbClr val="E8F0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smarter.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spoofing defeats a single signal. ClaimShield fuses six.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Fusion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Tiers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Workers Penalized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40416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Syndicates Exposed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638</Words>
  <Application>Microsoft Office PowerPoint</Application>
  <PresentationFormat>On-screen Show (16:9)</PresentationFormat>
  <Paragraphs>168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ClaimShield — DEVTrails 2026</dc:title>
  <dc:subject>PptxGenJS Presentation</dc:subject>
  <dc:creator>PptxGenJS</dc:creator>
  <cp:lastModifiedBy>DHRUV JHA (RA2311003010463)</cp:lastModifiedBy>
  <cp:revision>3</cp:revision>
  <dcterms:created xsi:type="dcterms:W3CDTF">2026-03-20T15:56:00Z</dcterms:created>
  <dcterms:modified xsi:type="dcterms:W3CDTF">2026-03-20T16:15:00Z</dcterms:modified>
</cp:coreProperties>
</file>